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3283C"/>
                </a:solidFill>
                <a:latin typeface="Arial"/>
              </a:defRPr>
            </a:pPr>
            <a:r>
              <a:rPr sz="1500" b="0" i="0" u="none" strike="noStrike">
                <a:solidFill>
                  <a:srgbClr val="23283C"/>
                </a:solidFill>
                <a:latin typeface="Arial"/>
              </a:rPr>
              <a:t>CRT 延長對死亡率的判別能力（%）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對死亡率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2328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特異度</c:v>
                  </c:pt>
                  <c:pt idx="1">
                    <c:v>敏感度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92.3</c:v>
                </c:pt>
                <c:pt idx="1">
                  <c:v>34.6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2328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2328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6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開場問題：你在小孩身上壓哪裡測 CRT？現場常見三種答案——指尖、手掌根、腳掌。這堂課要說明為什麼只有一個答案有實證。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重點：把 2 秒門檻套到腳掌或手掌根，會系統性製造偽陽性。胸骨與腳掌的正常上限約 4 秒。手掌根連常模都沒有。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Vos-Kerkhof 2017：以 &gt;2 秒判讀，不論指尖或胸骨，偵測嚴重細菌感染的表現都不好；兩部位一致性只有 fair。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指甲床受色素、發紺、按壓力道干擾大；文獻標準部位是 distal fingertip 的掌側指腹。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這是院前最容易誤判的來源：冬天、雨天、車外現場。先摸肢端溫度，冷的時候 CRT 只能參考。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不要在課堂上爭論 2 秒還是 3 秒。給第一線一個可執行的兩段式判讀就好。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Fleming 2015 meta-analysis：特異度 92.3%、敏感度 34.6%。要一併強調肉眼判讀的信度——非醫師觀察者間差距可達 1.17–2.00 秒（Meyer 2025）。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收尾：三個部位並列教，學員記不住哪個配哪個門檻，害處大於好處。只教指尖。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完整整理另存於 Notion「兒童微血管回填時間（CRT）：測哪裡？」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36/archdischild-2014-307079" TargetMode="External"/><Relationship Id="rId2" Type="http://schemas.openxmlformats.org/officeDocument/2006/relationships/hyperlink" Target="https://doi.org/10.1371/journal.pone.0138155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542/peds.92.5.69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36/archdischild-2014-307079" TargetMode="External"/><Relationship Id="rId2" Type="http://schemas.openxmlformats.org/officeDocument/2006/relationships/hyperlink" Target="https://doi.org/10.1001/jama.291.22.274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36/archdischild-2014-307079" TargetMode="External"/><Relationship Id="rId2" Type="http://schemas.openxmlformats.org/officeDocument/2006/relationships/hyperlink" Target="https://doi.org/10.1371/journal.pone.0138155" TargetMode="External"/><Relationship Id="rId3" Type="http://schemas.openxmlformats.org/officeDocument/2006/relationships/hyperlink" Target="https://doi.org/10.1001/jama.291.22.2746" TargetMode="External"/><Relationship Id="rId4" Type="http://schemas.openxmlformats.org/officeDocument/2006/relationships/hyperlink" Target="https://doi.org/10.1542/peds.92.5.699" TargetMode="External"/><Relationship Id="rId5" Type="http://schemas.openxmlformats.org/officeDocument/2006/relationships/hyperlink" Target="https://doi.org/10.1136/archdischild-2012-303046" TargetMode="External"/><Relationship Id="rId6" Type="http://schemas.openxmlformats.org/officeDocument/2006/relationships/hyperlink" Target="https://doi.org/10.1136/archdischild-2015-308519" TargetMode="External"/><Relationship Id="rId7" Type="http://schemas.openxmlformats.org/officeDocument/2006/relationships/hyperlink" Target="https://doi.org/10.1186/s12873-025-01204-0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兒童 CRT 要壓哪裡？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77240" y="27432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微血管回填時間的部位、門檻，與教學上的簡化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331012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EMT／EMTP 教育版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5943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證據：</a:t>
            </a:r>
            <a:pPr indent="0" marL="0">
              <a:buNone/>
            </a:pPr>
            <a:r>
              <a:rPr lang="en-US" sz="1100" u="sng" dirty="0">
                <a:solidFill>
                  <a:srgbClr val="AEB6D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Fleming 2015 系統性回顧</a:t>
            </a:r>
            <a:pPr indent="0" marL="0">
              <a:buNone/>
            </a:pPr>
            <a:r>
              <a:rPr lang="en-US" sz="1100" dirty="0">
                <a:solidFill>
                  <a:srgbClr val="8B9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 </a:t>
            </a:r>
            <a:pPr indent="0" marL="0">
              <a:buNone/>
            </a:pPr>
            <a:r>
              <a:rPr lang="en-US" sz="1100" u="sng" dirty="0">
                <a:solidFill>
                  <a:srgbClr val="AEB6D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meta-analysis</a:t>
            </a:r>
            <a:pPr indent="0" marL="0">
              <a:buNone/>
            </a:pPr>
            <a:r>
              <a:rPr lang="en-US" sz="1100" dirty="0">
                <a:solidFill>
                  <a:srgbClr val="8B9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｜OpenEvidence 檢索 2026-08-17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38160" y="2240280"/>
            <a:ext cx="13716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2240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壓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692640" y="2761488"/>
            <a:ext cx="502920" cy="329184"/>
          </a:xfrm>
          <a:prstGeom prst="rightArrow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0" y="2240280"/>
            <a:ext cx="1371600" cy="1371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0" y="2240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13816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壓到發白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3272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顏色回填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同樣叫 CRT，部位不同、標準就不同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78408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指尖（遠端指腹・掌面）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886200" y="15361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秒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78408" y="23042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E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絕大多數驗證研究採用；唯一有完整常模的部位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6208" y="137160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28816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胸骨／前胸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436608" y="15361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秒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528816" y="23042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與指尖一致性差（r = 0.18、κ = 0.35），不可互換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47472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78408" y="36758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腳掌／腳跟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86200" y="363931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秒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78408" y="44074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研究極少，系統性回顧中與胸骨歸為同一類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36208" y="347472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E7E9F0"/>
          </a:solidFill>
          <a:ln w="12700">
            <a:solidFill>
              <a:srgbClr val="E7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28816" y="36758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手掌根（魚際）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436608" y="363931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6B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無常模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528816" y="44074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不是任何研究的標準部位 → 教學上不該教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5897880"/>
            <a:ext cx="7863840" cy="566928"/>
          </a:xfrm>
          <a:prstGeom prst="roundRect">
            <a:avLst>
              <a:gd name="adj" fmla="val 22581"/>
            </a:avLst>
          </a:prstGeom>
          <a:solidFill>
            <a:srgbClr val="C00000"/>
          </a:solidFill>
          <a:ln w="19050">
            <a:solidFill>
              <a:srgbClr val="FFC000"/>
            </a:solidFill>
          </a:ln>
          <a:effectLst>
            <a:outerShdw sx="100000" sy="100000" kx="0" ky="0" algn="bl" rotWithShape="0" blurRad="76200" dist="19050" dir="5400000">
              <a:srgbClr val="000000">
                <a:alpha val="25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🔥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換部位就換標準，「2 秒」只屬於指尖。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為什麼實證站在指尖這一邊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566928" cy="566928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3990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最多驗證研究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417320" y="18013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兒童 CRT 的驗證研究絕大多數以指尖進行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566928" cy="566928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7249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唯一完整常模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17320" y="31272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其他部位缺乏可靠的正常值分佈與年齡資料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069080"/>
            <a:ext cx="566928" cy="566928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4050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唯一適用 2 秒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417320" y="44531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胸骨與腳掌的正常上限約 4 秒，門檻完全不同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040880" y="1371600"/>
            <a:ext cx="4434840" cy="3931920"/>
          </a:xfrm>
          <a:prstGeom prst="roundRect">
            <a:avLst>
              <a:gd name="adj" fmla="val 2326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0" y="16002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指尖 vs 胸骨：不能互換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0" y="221284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06840" y="2212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兩部位相關係數 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0" y="31821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006840" y="31821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 κ（僅 fair）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0" y="415137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秒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006840" y="415137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指尖平均比胸骨快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47548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 在高燒與 1–5 歲兒童更差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5897880"/>
            <a:ext cx="7863840" cy="566928"/>
          </a:xfrm>
          <a:prstGeom prst="roundRect">
            <a:avLst>
              <a:gd name="adj" fmla="val 22581"/>
            </a:avLst>
          </a:prstGeom>
          <a:solidFill>
            <a:srgbClr val="C00000"/>
          </a:solidFill>
          <a:ln w="19050">
            <a:solidFill>
              <a:srgbClr val="FFC000"/>
            </a:solidFill>
          </a:ln>
          <a:effectLst>
            <a:outerShdw sx="100000" sy="100000" kx="0" ky="0" algn="bl" rotWithShape="0" blurRad="76200" dist="19050" dir="5400000">
              <a:srgbClr val="000000">
                <a:alpha val="25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🔥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指尖是唯一有身分證的部位，其他都只是路人。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口訣：抬 → 壓 → 放 → 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627632"/>
            <a:ext cx="822960" cy="82296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1627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50392" y="3090672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把手抬到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心臟高度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627632"/>
            <a:ext cx="822960" cy="82296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627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29000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壓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93592" y="3090672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壓指腹到發白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心中數 5 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95160" y="1627632"/>
            <a:ext cx="822960" cy="82296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627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72200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36792" y="3090672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一次放開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不要慢慢鬆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15400" y="137160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38360" y="1627632"/>
            <a:ext cx="822960" cy="82296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8360" y="1627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915400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079992" y="3090672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數「1001、1002」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看顏色回來沒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279392"/>
            <a:ext cx="10789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D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434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壓 5 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4837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壓越久，測出來越長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26280" y="4434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碼錶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6280" y="4837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勝過心中默數，變異更小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92440" y="4434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20–25°C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92440" y="4837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超出範圍就別報秒數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5897880"/>
            <a:ext cx="7863840" cy="566928"/>
          </a:xfrm>
          <a:prstGeom prst="roundRect">
            <a:avLst>
              <a:gd name="adj" fmla="val 22581"/>
            </a:avLst>
          </a:prstGeom>
          <a:solidFill>
            <a:srgbClr val="C00000"/>
          </a:solidFill>
          <a:ln w="19050">
            <a:solidFill>
              <a:srgbClr val="FFC000"/>
            </a:solidFill>
          </a:ln>
          <a:effectLst>
            <a:outerShdw sx="100000" sy="100000" kx="0" ky="0" algn="bl" rotWithShape="0" blurRad="76200" dist="19050" dir="5400000">
              <a:srgbClr val="000000">
                <a:alpha val="25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🔥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壓的是指腹，不是指甲——指甲會騙人。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院前最大的陷阱：環境溫度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5166360" cy="3474720"/>
          </a:xfrm>
          <a:prstGeom prst="roundRect">
            <a:avLst>
              <a:gd name="adj" fmla="val 2632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6002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25.7°C 溫暖房間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 CRT 0.85 秒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005840" y="37307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被判為正常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36208" y="1371600"/>
            <a:ext cx="5166360" cy="3474720"/>
          </a:xfrm>
          <a:prstGeom prst="roundRect">
            <a:avLst>
              <a:gd name="adj" fmla="val 2632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16002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19.4°C 涼爽房間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56248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 CRT 2.39 秒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56248" y="25146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6556248" y="37307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被判為正常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5120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同一群健康、沒有脫水的兒童，只換了房間溫度。（</a:t>
            </a:r>
            <a:pPr indent="0" marL="0">
              <a:buNone/>
            </a:pPr>
            <a:r>
              <a:rPr lang="en-US" sz="1500" b="1" u="sng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Gorelick 1993, Pediatrics</a:t>
            </a:r>
            <a:pPr indent="0" marL="0">
              <a:buNone/>
            </a:pPr>
            <a:r>
              <a:rPr lang="en-US" sz="1500" b="1" dirty="0">
                <a:solidFill>
                  <a:srgbClr val="232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5897880"/>
            <a:ext cx="7863840" cy="566928"/>
          </a:xfrm>
          <a:prstGeom prst="roundRect">
            <a:avLst>
              <a:gd name="adj" fmla="val 22581"/>
            </a:avLst>
          </a:prstGeom>
          <a:solidFill>
            <a:srgbClr val="C00000"/>
          </a:solidFill>
          <a:ln w="19050">
            <a:solidFill>
              <a:srgbClr val="FFC000"/>
            </a:solidFill>
          </a:ln>
          <a:effectLst>
            <a:outerShdw sx="100000" sy="100000" kx="0" ky="0" algn="bl" rotWithShape="0" blurRad="76200" dist="19050" dir="5400000">
              <a:srgbClr val="000000">
                <a:alpha val="25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🔥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手是冰的，CRT 就只是在測氣溫。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判讀：只給學員兩個數字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6858000" cy="868680"/>
          </a:xfrm>
          <a:prstGeom prst="roundRect">
            <a:avLst>
              <a:gd name="adj" fmla="val 10526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3258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 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14600" y="13258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74720" y="13258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指尖、心臟高度、溫暖環境下測得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50008"/>
            <a:ext cx="6858000" cy="868680"/>
          </a:xfrm>
          <a:prstGeom prst="roundRect">
            <a:avLst>
              <a:gd name="adj" fmla="val 10526"/>
            </a:avLst>
          </a:prstGeom>
          <a:solidFill>
            <a:srgbClr val="FDF1E0"/>
          </a:solidFill>
          <a:ln w="12700">
            <a:solidFill>
              <a:srgbClr val="FDF1E0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35000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 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14600" y="235000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警訊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23500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提高警覺，合併其他徵象一起看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374136"/>
            <a:ext cx="6858000" cy="868680"/>
          </a:xfrm>
          <a:prstGeom prst="roundRect">
            <a:avLst>
              <a:gd name="adj" fmla="val 10526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37413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3 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14600" y="3374136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337413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合併其他徵象即當休克處理、儘早後送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1325880"/>
            <a:ext cx="3611880" cy="3054096"/>
          </a:xfrm>
          <a:prstGeom prst="roundRect">
            <a:avLst>
              <a:gd name="adj" fmla="val 2994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38160" y="1554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門檻從未統一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38160" y="205740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Fleming 2015 系統性回顧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3 秒為異常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u="sng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Steiner 2004 JAMA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 秒為異常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32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PALS／ERC／APLS／WHO／NICE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各說各話，無共識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617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環境冷或肢端冰冷時，秒數不可信——改用其他徵象判斷。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5897880"/>
            <a:ext cx="6858000" cy="566928"/>
          </a:xfrm>
          <a:prstGeom prst="roundRect">
            <a:avLst>
              <a:gd name="adj" fmla="val 22581"/>
            </a:avLst>
          </a:prstGeom>
          <a:solidFill>
            <a:srgbClr val="C00000"/>
          </a:solidFill>
          <a:ln w="19050">
            <a:solidFill>
              <a:srgbClr val="FFC000"/>
            </a:solidFill>
          </a:ln>
          <a:effectLst>
            <a:outerShdw sx="100000" sy="100000" kx="0" ky="0" algn="bl" rotWithShape="0" blurRad="76200" dist="19050" dir="5400000">
              <a:srgbClr val="000000">
                <a:alpha val="25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🔥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兩秒起疑，三秒動手。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它抓得到壞人，但放走的更多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4008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315200" y="132588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589520" y="15087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4.49 / 0.71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589520" y="2121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LR+ ／ LR−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89520" y="24688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延長 → 死亡風險約四倍；正常 → 幾乎沒有排除力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0" y="3401568"/>
            <a:ext cx="4160520" cy="2084832"/>
          </a:xfrm>
          <a:prstGeom prst="roundRect">
            <a:avLst>
              <a:gd name="adj" fmla="val 4386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36118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延長是紅旗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正常不能排除休克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589520" y="45720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偵測 ≥5% 脫水：特異度 89–94%，敏感度卻在 0–94% 之間劇烈擺盪。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" y="5897880"/>
            <a:ext cx="7863840" cy="566928"/>
          </a:xfrm>
          <a:prstGeom prst="roundRect">
            <a:avLst>
              <a:gd name="adj" fmla="val 22581"/>
            </a:avLst>
          </a:prstGeom>
          <a:solidFill>
            <a:srgbClr val="C00000"/>
          </a:solidFill>
          <a:ln w="19050">
            <a:solidFill>
              <a:srgbClr val="FFC000"/>
            </a:solidFill>
          </a:ln>
          <a:effectLst>
            <a:outerShdw sx="100000" sy="100000" kx="0" ky="0" algn="bl" rotWithShape="0" blurRad="76200" dist="19050" dir="5400000">
              <a:srgbClr val="000000">
                <a:alpha val="25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🔥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CRT 正常，只代表這一項沒事，不代表這個小孩沒事。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帶回現場的三條口訣、兩個要改的習慣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三條口訣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303520" cy="1115568"/>
          </a:xfrm>
          <a:prstGeom prst="roundRect">
            <a:avLst>
              <a:gd name="adj" fmla="val 8197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013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手冰不算數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2037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肢端冰冷或現場氣溫低，改看 PAT、脈搏強度、意識、心跳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990088"/>
            <a:ext cx="5303520" cy="1115568"/>
          </a:xfrm>
          <a:prstGeom prst="roundRect">
            <a:avLst>
              <a:gd name="adj" fmla="val 8197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0998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快不代表沒事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5021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CRT 正常 ≠ 沒休克，敏感度只有三分之一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288536"/>
            <a:ext cx="5303520" cy="1115568"/>
          </a:xfrm>
          <a:prstGeom prst="roundRect">
            <a:avLst>
              <a:gd name="adj" fmla="val 8197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39826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換地方就換標準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4800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手指拿不到才壓胸骨，此時只判「明顯很慢／不慢」，不報秒數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12344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兩個要改的習慣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5166360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2700">
            <a:solidFill>
              <a:srgbClr val="D6DA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07568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壓指甲床</a:t>
            </a:r>
            <a:pPr indent="0" marL="0">
              <a:buNone/>
            </a:pPr>
            <a:r>
              <a:rPr lang="en-US" sz="17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700" b="1" dirty="0">
                <a:solidFill>
                  <a:srgbClr val="1F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改壓指腹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0" y="26060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指甲床受色素、發紺、按壓力道干擾，文獻標準部位是掌側指腹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3639312"/>
            <a:ext cx="5166360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2700">
            <a:solidFill>
              <a:srgbClr val="D6DA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0233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把腳掌當常規</a:t>
            </a:r>
            <a:pPr indent="0" marL="0">
              <a:buNone/>
            </a:pPr>
            <a:r>
              <a:rPr lang="en-US" sz="17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700" b="1" dirty="0">
                <a:solidFill>
                  <a:srgbClr val="1F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 EMT 課不教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455371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正常上限約 4 秒，用 2 秒判會大量誤判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5897880"/>
            <a:ext cx="7863840" cy="566928"/>
          </a:xfrm>
          <a:prstGeom prst="roundRect">
            <a:avLst>
              <a:gd name="adj" fmla="val 22581"/>
            </a:avLst>
          </a:prstGeom>
          <a:solidFill>
            <a:srgbClr val="C00000"/>
          </a:solidFill>
          <a:ln w="19050">
            <a:solidFill>
              <a:srgbClr val="FFC000"/>
            </a:solidFill>
          </a:ln>
          <a:effectLst>
            <a:outerShdw sx="100000" sy="100000" kx="0" ky="0" algn="bl" rotWithShape="0" blurRad="76200" dist="19050" dir="5400000">
              <a:srgbClr val="000000">
                <a:alpha val="25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🔥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少教一個部位，學員就多記住一個標準。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證據來源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99032"/>
            <a:ext cx="310896" cy="3108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371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D5DAF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Fleming S, et al. Validity and reliability of measurement of capillary refill time in children: a systematic review. Arch Dis Child. 2015;100(3):239-49.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020824"/>
            <a:ext cx="310896" cy="3108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20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99339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D5DAF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Fleming S, et al. The Diagnostic Value of Capillary Refill Time for Detecting Serious Illness in Children: A Systematic Review and Meta-Analysis. PLoS One. 2015;10(9):e0138155.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642616"/>
            <a:ext cx="310896" cy="3108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42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61518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D5DAF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Steiner MJ, et al. Is This Child Dehydrated? JAMA. 2004;291(22):2746-54.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264408"/>
            <a:ext cx="310896" cy="3108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23697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D5DAF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Gorelick MH, et al. Effect of Ambient Temperature on Capillary Refill in Healthy Children. Pediatrics. 1993;92(5):699-702.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886200"/>
            <a:ext cx="310896" cy="3108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38587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D5DAF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Crook J, Taylor RM. The agreement of fingertip and sternum capillary refill time in children. Arch Dis Child. 2013;98(4):265-8.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507992"/>
            <a:ext cx="310896" cy="3108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44805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D5DAF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 Vos-Kerkhof E, et al. Comparison of peripheral and central capillary refill time in febrile children. Arch Dis Child. 2017;102(1):17-21.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5129784"/>
            <a:ext cx="310896" cy="3108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129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510235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D5DAF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Meyer F, et al. Can we trust naked eye assessments of the capillary refill test in children? BMC Emerg Med. 2025;25(1):48.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OpenEvidence 檢索（2026-08-17）：兒童 CRT 測量部位／常模／方法學，以及指引門檻與非醫療人員信度。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兒童 CRT 要壓哪裡</dc:title>
  <dc:subject>PptxGenJS Presentation</dc:subject>
  <dc:creator>林自強</dc:creator>
  <cp:lastModifiedBy>林自強</cp:lastModifiedBy>
  <cp:revision>1</cp:revision>
  <dcterms:created xsi:type="dcterms:W3CDTF">2026-08-17T08:32:05Z</dcterms:created>
  <dcterms:modified xsi:type="dcterms:W3CDTF">2026-08-17T08:32:05Z</dcterms:modified>
</cp:coreProperties>
</file>